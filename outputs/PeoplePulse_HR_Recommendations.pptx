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PeoplePulse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Workforce attrition &amp; productivity analytics – HR planning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C9D3E0"/>
                </a:solidFill>
                <a:latin typeface="Calibri"/>
              </a:rPr>
              <a:t>Data Analytics internship project | IBM HR Analytics dataset (1,470 employees) + labelled synthetic operational layer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Attrition is concentrated, predictable and largely addressable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C677D"/>
                </a:solidFill>
                <a:latin typeface="Calibri"/>
              </a:rPr>
              <a:t>PeoplePulse | IBM HR Analytics (1,470 records)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E76F51"/>
                </a:solidFill>
                <a:latin typeface="Calibri"/>
              </a:rPr>
              <a:t>17.5%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C677D"/>
                </a:solidFill>
                <a:latin typeface="Calibri"/>
              </a:rPr>
              <a:t>annualised attrition (237 exits / 1,470 records)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630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57276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E76F51"/>
                </a:solidFill>
                <a:latin typeface="Calibri"/>
              </a:rPr>
              <a:t>31%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76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C677D"/>
                </a:solidFill>
                <a:latin typeface="Calibri"/>
              </a:rPr>
              <a:t>exit rate with overtime vs 10% without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7276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E76F51"/>
                </a:solidFill>
                <a:latin typeface="Calibri"/>
              </a:rP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76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C677D"/>
                </a:solidFill>
                <a:latin typeface="Calibri"/>
              </a:rPr>
              <a:t>exit rate at 0–1 years' tenure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463040"/>
            <a:ext cx="2606040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57276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2A9D8F"/>
                </a:solidFill>
                <a:latin typeface="Calibri"/>
              </a:rPr>
              <a:t>44%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1762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C677D"/>
                </a:solidFill>
                <a:latin typeface="Calibri"/>
              </a:rPr>
              <a:t>of exits fall in the model's top-10% risk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17520"/>
            <a:ext cx="11155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Overtime is the single strongest driver (odds ratio ×4.4 after controlling for role, pay, tenure and satisfaction).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Risk peaks early: 0–1 yr tenure (35%), new manager in the last year (32%), grade G1 and age &lt; 25.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Sales Representatives (40% exit) and Laboratory Technicians (24%) are the hotspot roles; Sales scores Red on talent health (60/100).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Without action, active headcount drifts from 1,233 to ~1164 by 2027Q3 even with 80% backfill; a freeze would take it to ~1068.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3A5F"/>
                </a:solidFill>
                <a:latin typeface="Calibri"/>
              </a:rPr>
              <a:t>•  Recommended: overtime controls, a first-year / manager-transition programme, pay review for entry roles and a targeted retention plan for 124 high-risk employees.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PHASE 1 – HR 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Data foundation: what is real, what is synthetic, what was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C677D"/>
                </a:solidFill>
                <a:latin typeface="Calibri"/>
              </a:rPr>
              <a:t>PeoplePulse | IBM HR Analytics (1,470 records)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Real – IBM HR Analytics (1,470 records)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Employee master: department, role, grade, tenure, pay, overtime, satisfaction, rating, manager &amp; promotion history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Drives all attrition, risk-model, scorecard, critical-role and forecast results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No hire/exit dates or locations – left blank, not invented; rates assume exits span 12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B45309"/>
                </a:solidFill>
                <a:latin typeface="Calibri"/>
              </a:rPr>
              <a:t>Synthetic – generated, flagged is_synthetic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12 months of attendance, 4 quarters of productivity scores, 215 requisitions with source &amp; time-to-fill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Driven only by real IBM attributes; no exit signal injected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Used to demonstrate absenteeism, hiring-source and productivity analytics – not as evidence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160520"/>
          <a:ext cx="11064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754880"/>
                <a:gridCol w="338328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 sheet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Issue found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Resolution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KPI_Summary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'Exited employee records' used COUNTA → 1,470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COUNTIF(Attrition="Yes") → 237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Attendance / Performance / Hiring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IDs E0003/6/9/17 not in master; 5 hires collide with long-tenured IBM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Replaced by synthetic layer keyed to real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Dimensions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Tenure bands and grade list (G1–G4) don't match data (G5 present)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Dimensions rebuilt from data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PHASE 2 – ATTRITION &amp; RISK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Who leaves: early-career, overtime-heavy, entry-grade staff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C677D"/>
                </a:solidFill>
                <a:latin typeface="Calibri"/>
              </a:rPr>
              <a:t>PeoplePulse | IBM HR Analytics (1,470 records)</a:t>
            </a:r>
          </a:p>
        </p:txBody>
      </p:sp>
      <p:pic>
        <p:nvPicPr>
          <p:cNvPr id="6" name="Picture 5" descr="attrition_hot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949440" cy="39915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55448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Only cohorts whose 95% confidence interval sits above the company rate are shown.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Sales Representatives: 40% exit proportion (n=83).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Overtime workers: 31% vs 10%; overtime + low satisfaction reaches 37%.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New manager in the past year: 32% – a proxy for manager change (no dated manager history).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Seniority protects: G4–G5, Managers and Directors exit at 2–7%.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PHASE 2 – COHORT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Risk is front-loaded: the first two years drive exits in every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C677D"/>
                </a:solidFill>
                <a:latin typeface="Calibri"/>
              </a:rPr>
              <a:t>PeoplePulse | IBM HR Analytics (1,470 records)</a:t>
            </a:r>
          </a:p>
        </p:txBody>
      </p:sp>
      <p:pic>
        <p:nvPicPr>
          <p:cNvPr id="6" name="Picture 5" descr="cohor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498079" cy="2999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55448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R&amp;D: 32% exit in 0–1 yr vs 5% at 10+ yrs.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Sales stays elevated through 2–3 yrs (29%) – the onboarding problem extends into year 3.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HR 0–1 yr = 80% but n = 5: directional only.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Implication: retention spend has the highest return in years 0–3.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PHASE 2 – EARLY-WARNING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An early-warning score flags 44% of leavers in 10% of the workforce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C677D"/>
                </a:solidFill>
                <a:latin typeface="Calibri"/>
              </a:rPr>
              <a:t>PeoplePulse | IBM HR Analytics (1,470 records)</a:t>
            </a:r>
          </a:p>
        </p:txBody>
      </p:sp>
      <p:pic>
        <p:nvPicPr>
          <p:cNvPr id="6" name="Picture 5" descr="risk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760720" cy="3456432"/>
          </a:xfrm>
          <a:prstGeom prst="rect">
            <a:avLst/>
          </a:prstGeom>
        </p:spPr>
      </p:pic>
      <p:pic>
        <p:nvPicPr>
          <p:cNvPr id="7" name="Picture 6" descr="early_warning_fl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394960" cy="32369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70916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•  Logistic regression, 5-fold CV: ROC AUC 0.773, PR AUC 0.453 vs 16% baseline; gradient boosting no better (0.775).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•  Simple rule version: employees with 4+ of 7 flags exit at 47% vs 6% with none – usable without the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PHASE 4 – CRITICAL ROLE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Critical-role exposure: Sales Executives are the main continuity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C677D"/>
                </a:solidFill>
                <a:latin typeface="Calibri"/>
              </a:rPr>
              <a:t>PeoplePulse | IBM HR Analytics (1,470 records)</a:t>
            </a:r>
          </a:p>
        </p:txBody>
      </p:sp>
      <p:pic>
        <p:nvPicPr>
          <p:cNvPr id="6" name="Picture 5" descr="critical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766560" cy="37892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5544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Sales Executive: 269 active, 34 high-risk, ~41 expected exits in 12 months.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Leadership roles (Manager, Research / Manufacturing Director) are stable: ≤ 9 expected exits each.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Lab Technicians and Research Scientists are not tagged critical but together lose ~70 people a year – a capacity risk for R&amp;D.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Critical = leadership or revenue-carrying roles (assumption; adjust to company policy).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PHASE 4 – TALENT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Department talent health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C677D"/>
                </a:solidFill>
                <a:latin typeface="Calibri"/>
              </a:rPr>
              <a:t>PeoplePulse | IBM HR Analytics (1,470 records)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914400"/>
                <a:gridCol w="1097280"/>
                <a:gridCol w="1280160"/>
                <a:gridCol w="1097280"/>
                <a:gridCol w="1463040"/>
                <a:gridCol w="1371600"/>
                <a:gridCol w="10058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Attrition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High-risk share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Low satisfaction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Overtime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Promotion stalled 5+ yrs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Absenteeism*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Time to fill*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Human Resources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80 Amber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21.0%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9.8%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47.1%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23.5%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15.7%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33 d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Research &amp;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99 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36.7%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23.8%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16.9%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42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60 Red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23.0%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16.7%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36.4%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22.6%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21.2%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A5F"/>
                          </a:solidFill>
                          <a:latin typeface="Calibri"/>
                        </a:rPr>
                        <a:t>40 d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749039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Score 0–100: each metric scored vs the company level (100 at or better, −2 pts per 1% worse); weights: attrition 30%, high-risk 20%, low satisfaction 15%, overtime 10%, absenteeism 10%, time to fill 10%, promotion 5%.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Sales is Red: highest attrition (23%) and 2.3× R&amp;D's high-risk share. HR is Amber on low satisfaction (47%) and attrition.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F3A5F"/>
                </a:solidFill>
                <a:latin typeface="Calibri"/>
              </a:rPr>
              <a:t>•  * synthetic inputs (10% + 10% of weight).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PHASE 4 – WORKFORCE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Quarterly headcount forecast: backfilling alone does not hold headcount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C677D"/>
                </a:solidFill>
                <a:latin typeface="Calibri"/>
              </a:rPr>
              <a:t>PeoplePulse | IBM HR Analytics (1,470 records)</a:t>
            </a:r>
          </a:p>
        </p:txBody>
      </p:sp>
      <p:pic>
        <p:nvPicPr>
          <p:cNvPr id="6" name="Picture 5" descr="headcount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34747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79" y="1554480"/>
          <a:ext cx="438912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005840"/>
                <a:gridCol w="822960"/>
              </a:tblGrid>
              <a:tr h="32918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2027Q3 median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P10–P90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Exits (4 qtrs)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1164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1146–1179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Growth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1237–1270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Hiring freeze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1068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1046–1090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Retention programme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1152–1184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356616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•  Starting point: 1,233 active employees (2026Q3 snapshot).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•  Retention programme on the High tier avoids ~17 exits in a year.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•  Holding headcount flat needs ~45 hires per quarter; growing 2% per quarter needs ~70.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•  Method: 2,000 Monte Carlo runs over each employee's risk score; backfills arrive a quarter after the exit; new hires carry the observed first-year exit 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PHASE 3 – PRODUCTIVITY &amp; HIRING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Hiring, absence and productivity analytics (method demo)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C677D"/>
                </a:solidFill>
                <a:latin typeface="Calibri"/>
              </a:rPr>
              <a:t>PeoplePulse | IBM HR Analytics (1,470 records) | SYNTHETIC DATA – illustrative only</a:t>
            </a:r>
          </a:p>
        </p:txBody>
      </p:sp>
      <p:pic>
        <p:nvPicPr>
          <p:cNvPr id="6" name="Picture 5" descr="hiring_source_sy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669280" cy="3139909"/>
          </a:xfrm>
          <a:prstGeom prst="rect">
            <a:avLst/>
          </a:prstGeom>
        </p:spPr>
      </p:pic>
      <p:pic>
        <p:nvPicPr>
          <p:cNvPr id="7" name="Picture 6" descr="absenteeism_sy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577840" cy="27460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5720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•  Synthetic: the IBM dataset has no attendance, requisition or productivity history. Values show what the dashboard and KPIs will report once real HRIS / ATS data is connected.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•  Real component: first-year exits (16 of 44 employees with &lt; 1 yr tenure = 36%) – the early-exit outcome attached to each requisition.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3A5F"/>
                </a:solidFill>
                <a:latin typeface="Calibri"/>
              </a:rPr>
              <a:t>•  Ready-built: absenteeism by month &amp; department, time-to-fill by source &amp; grade, probation outcomes, productivity by role family and rating.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HR PLANNING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Recommendations for HR and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C677D"/>
                </a:solidFill>
                <a:latin typeface="Calibri"/>
              </a:rPr>
              <a:t>PeoplePulse | IBM HR Analytics (1,470 records)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4023360"/>
                <a:gridCol w="1554480"/>
              </a:tblGrid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to do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1. Cap and rebalance overtime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31% vs 10% exit; OR ×4.4; 76% of High-tier actives work overtime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Overtime caps / comp-time for Sales Reps, Lab Techs, Research Scientists; monthly overtime review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Ops + HRBP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2. First-two-years programme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0–1 yr exit 35%; Sales 2–3 yr 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Structured onboarding, 30/60/90-day check-ins, buddy system, 12-month career conversation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HR + line managers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3. Protect manager transitions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New manager in last year: 32% exit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Handover plan and skip-level 1:1 within 30 days of any manager change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HRBP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4. Entry-role pay &amp; progression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G1 exit 26%; leavers in Sales Rep / Lab Tech earn 12–15% less than stayers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Benchmark G1 pay; clearer G1→G2 promotion criteria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Total Rewards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5. Targeted retention for High tier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124 high-risk active staff; ~17 exits avoidable / yr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Monthly risk-score refresh; stay interviews; manager action plans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HR Analytics + HRBP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6. Sales Executive bench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~41 expected exits / yr in a critical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Succession pool from top Sales Reps; pipeline hiring ahead of exits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Sales leadership + 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Next steps and data needed to go from snapshot to live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C677D"/>
                </a:solidFill>
                <a:latin typeface="Calibri"/>
              </a:rPr>
              <a:t>PeoplePulse | IBM HR Analytics (1,470 records)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 Connect HRIS: hire / exit dates, location, monthly snapshots → true period attrition and trend lines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 Replace synthetic layer with real attendance (time &amp; attendance system) and requisitions (ATS)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 Define productivity per role family (e.g. quota attainment for Sales, output KPIs for R&amp;D)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 Re-train the risk model quarterly; validate on the next period's actual exits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 Week 1–2: pilot retention actions with Sales and the R&amp;D lab teams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 Track KPIs monthly: attrition, first-year exit rate, overtime share, High-tier count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 Governance: risk scores are for workforce planning in aggregate – not for individual performance decisions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3A5F"/>
                </a:solidFill>
                <a:latin typeface="Calibri"/>
              </a:rPr>
              <a:t>•  Fairness check: gender is a model input – audit tier rates by gender / age and test removing it before operational 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A9D8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Appendix: methodology and KPI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C677D"/>
                </a:solidFill>
                <a:latin typeface="Calibri"/>
              </a:rPr>
              <a:t>PeoplePulse | IBM HR Analytics (1,470 records)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7223760"/>
                <a:gridCol w="128016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 basis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Annualised attrition rate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Exits / average headcount = exits / ((records + active) / 2); assumes IBM exits span 12 months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Exit proportion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Exits / employee records in a segment; 95% Wilson confidence interval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Risk probability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Out-of-fold logistic regression probability (10 numeric + 4 categorical features)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Risk 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High ≥ 0.31 (top 10% of active), Medium ≥ 0.16 (next 20%)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Absenteeism rate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Absent days / scheduled workdays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Synthetic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Time to fill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Fill date − opening date (days)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Synthetic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Early exit within 1 year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Exited with Years_at_Company = 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Talent health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Weighted 0–100 composite vs company level (see scorecard slide)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A5F"/>
                          </a:solidFill>
                          <a:latin typeface="Calibri"/>
                        </a:rPr>
                        <a:t>Mixed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